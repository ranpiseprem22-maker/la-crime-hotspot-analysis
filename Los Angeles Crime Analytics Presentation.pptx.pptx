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embeddedFontLst>
    <p:embeddedFont>
      <p:font typeface="Inter"/>
      <p:bold r:id="rId14"/>
    </p:embeddedFont>
    <p:embeddedFont>
      <p:font typeface="Plus Jakarta Sans"/>
      <p:bold r:id="rId15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62000" y="4684365"/>
            <a:ext cx="419100" cy="28575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62000" y="2064097"/>
            <a:ext cx="11430000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38BDF8"/>
                </a:solidFill>
                <a:latin typeface="Plus Jakarta Sans"/>
              </a:rPr>
              <a:t>EXECUTIVE INTELLIGENCE BRIEFING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2397472"/>
            <a:ext cx="8601075" cy="11391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4484"/>
              </a:lnSpc>
            </a:pPr>
            <a:r>
              <a:rPr sz="3900" b="1" i="0" u="none">
                <a:solidFill>
                  <a:srgbClr val="FFFFFF"/>
                </a:solidFill>
                <a:latin typeface="Plus Jakarta Sans"/>
              </a:rPr>
              <a:t>Los Angeles Crime &amp; Hotspot Intelligence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3727102"/>
            <a:ext cx="6572250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0" i="0" u="none">
                <a:solidFill>
                  <a:srgbClr val="94A3B8"/>
                </a:solidFill>
                <a:latin typeface="Inter"/>
              </a:rPr>
              <a:t>Data-driven patrol optimization, operational resource allocation, and predictive law enforcement analytics.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33500" y="4603402"/>
            <a:ext cx="3679031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CBD5E1"/>
                </a:solidFill>
                <a:latin typeface="Inter"/>
              </a:rPr>
              <a:t>Prem Ranpise | Data Science &amp; Analytics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2999482"/>
            <a:ext cx="3505200" cy="1859160"/>
          </a:xfrm>
          <a:prstGeom prst="roundRect">
            <a:avLst>
              <a:gd name="adj" fmla="val 6147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343400" y="2879526"/>
            <a:ext cx="3505200" cy="2099071"/>
          </a:xfrm>
          <a:prstGeom prst="roundRect">
            <a:avLst>
              <a:gd name="adj" fmla="val 5445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8077200" y="2879526"/>
            <a:ext cx="3505200" cy="2099071"/>
          </a:xfrm>
          <a:prstGeom prst="roundRect">
            <a:avLst>
              <a:gd name="adj" fmla="val 5445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5825" y="3313807"/>
            <a:ext cx="419100" cy="4191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9625" y="3193851"/>
            <a:ext cx="419100" cy="4191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53425" y="3193851"/>
            <a:ext cx="419100" cy="4191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0125" y="3428107"/>
            <a:ext cx="190500" cy="1905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19637" y="3308151"/>
            <a:ext cx="219075" cy="1905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67725" y="3308151"/>
            <a:ext cx="190500" cy="1905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2563EB"/>
                </a:solidFill>
                <a:latin typeface="Plus Jakarta Sans"/>
              </a:rPr>
              <a:t>PROBLEM STATEMENT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600" y="704850"/>
            <a:ext cx="11582400" cy="4095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550" b="1" i="0" u="none">
                <a:solidFill>
                  <a:srgbClr val="0F172A"/>
                </a:solidFill>
                <a:latin typeface="Plus Jakarta Sans"/>
              </a:rPr>
              <a:t>Urban Public Safety Inefficiencies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5825" y="3923407"/>
            <a:ext cx="3875484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0F172A"/>
                </a:solidFill>
                <a:latin typeface="Plus Jakarta Sans"/>
              </a:rPr>
              <a:t>Static Patrol Shifts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5825" y="4304407"/>
            <a:ext cx="3690937" cy="23991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sz="1350" b="0" i="0" u="none">
                <a:solidFill>
                  <a:srgbClr val="475569"/>
                </a:solidFill>
                <a:latin typeface="Inter"/>
              </a:rPr>
              <a:t>Patrols misaligned with demand.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19625" y="3803451"/>
            <a:ext cx="3875484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0F172A"/>
                </a:solidFill>
                <a:latin typeface="Plus Jakarta Sans"/>
              </a:rPr>
              <a:t>Spatial Concentration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19625" y="4184451"/>
            <a:ext cx="3048000" cy="4798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sz="1350" b="0" i="0" u="none">
                <a:solidFill>
                  <a:srgbClr val="475569"/>
                </a:solidFill>
                <a:latin typeface="Inter"/>
              </a:rPr>
              <a:t>Dense hotspots overwhelm standard precincts.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53425" y="3803451"/>
            <a:ext cx="3838575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0F172A"/>
                </a:solidFill>
                <a:latin typeface="Plus Jakarta Sans"/>
              </a:rPr>
              <a:t>Response Latency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53425" y="4184451"/>
            <a:ext cx="3048000" cy="4798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sz="1350" b="0" i="0" u="none">
                <a:solidFill>
                  <a:srgbClr val="475569"/>
                </a:solidFill>
                <a:latin typeface="Inter"/>
              </a:rPr>
              <a:t>Delayed triage for critical emergencies.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2938462"/>
            <a:ext cx="3454449" cy="2019300"/>
          </a:xfrm>
          <a:prstGeom prst="roundRect">
            <a:avLst>
              <a:gd name="adj" fmla="val 566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368849" y="2938462"/>
            <a:ext cx="3454449" cy="2019300"/>
          </a:xfrm>
          <a:prstGeom prst="roundRect">
            <a:avLst>
              <a:gd name="adj" fmla="val 566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8128099" y="2938462"/>
            <a:ext cx="3454449" cy="2019300"/>
          </a:xfrm>
          <a:prstGeom prst="roundRect">
            <a:avLst>
              <a:gd name="adj" fmla="val 566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2563EB"/>
                </a:solidFill>
                <a:latin typeface="Plus Jakarta Sans"/>
              </a:rPr>
              <a:t>EXECUTIVE OVERVIEW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704850"/>
            <a:ext cx="11582400" cy="4095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550" b="1" i="0" u="none">
                <a:solidFill>
                  <a:srgbClr val="0F172A"/>
                </a:solidFill>
                <a:latin typeface="Plus Jakarta Sans"/>
              </a:rPr>
              <a:t>Core Incident Benchmark Metrics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0700" y="3290887"/>
            <a:ext cx="3532249" cy="6858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ts val="5400"/>
              </a:lnSpc>
            </a:pPr>
            <a:r>
              <a:rPr sz="5400" b="1" i="0" u="none">
                <a:solidFill>
                  <a:srgbClr val="2563EB"/>
                </a:solidFill>
                <a:latin typeface="Plus Jakarta Sans"/>
              </a:rPr>
              <a:t>899K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0700" y="4129087"/>
            <a:ext cx="3532249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500" b="1" i="0" u="none">
                <a:solidFill>
                  <a:srgbClr val="0F172A"/>
                </a:solidFill>
                <a:latin typeface="Inter"/>
              </a:rPr>
              <a:t>Total Reported Incidents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0700" y="4414837"/>
            <a:ext cx="3532249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200" b="0" i="0" u="none">
                <a:solidFill>
                  <a:srgbClr val="64748B"/>
                </a:solidFill>
                <a:latin typeface="Inter"/>
              </a:rPr>
              <a:t>Cleaned spatial records analyzed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29949" y="3290887"/>
            <a:ext cx="3532249" cy="6858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ts val="5400"/>
              </a:lnSpc>
            </a:pPr>
            <a:r>
              <a:rPr sz="5400" b="1" i="0" u="none">
                <a:solidFill>
                  <a:srgbClr val="DC2626"/>
                </a:solidFill>
                <a:latin typeface="Plus Jakarta Sans"/>
              </a:rPr>
              <a:t>270K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29949" y="4129087"/>
            <a:ext cx="3532249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500" b="1" i="0" u="none">
                <a:solidFill>
                  <a:srgbClr val="0F172A"/>
                </a:solidFill>
                <a:latin typeface="Inter"/>
              </a:rPr>
              <a:t>Violent Crime Incidents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29949" y="4414837"/>
            <a:ext cx="3532249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200" b="0" i="0" u="none">
                <a:solidFill>
                  <a:srgbClr val="64748B"/>
                </a:solidFill>
                <a:latin typeface="Inter"/>
              </a:rPr>
              <a:t>Assault, battery, and armed offenses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89199" y="3290887"/>
            <a:ext cx="3532249" cy="6858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ts val="5400"/>
              </a:lnSpc>
            </a:pPr>
            <a:r>
              <a:rPr sz="5400" b="1" i="0" u="none">
                <a:solidFill>
                  <a:srgbClr val="0F172A"/>
                </a:solidFill>
                <a:latin typeface="Plus Jakarta Sans"/>
              </a:rPr>
              <a:t>30.01%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89199" y="4129087"/>
            <a:ext cx="3532249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500" b="1" i="0" u="none">
                <a:solidFill>
                  <a:srgbClr val="0F172A"/>
                </a:solidFill>
                <a:latin typeface="Inter"/>
              </a:rPr>
              <a:t>Violent Offense Ratio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89199" y="4414837"/>
            <a:ext cx="3532249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200" b="0" i="0" u="none">
                <a:solidFill>
                  <a:srgbClr val="64748B"/>
                </a:solidFill>
                <a:latin typeface="Inter"/>
              </a:rPr>
              <a:t>Baseline for emergency unit triage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779394" y="2124075"/>
            <a:ext cx="3803005" cy="1038225"/>
          </a:xfrm>
          <a:prstGeom prst="roundRect">
            <a:avLst>
              <a:gd name="adj" fmla="val 9174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779394" y="3352800"/>
            <a:ext cx="3803005" cy="1038225"/>
          </a:xfrm>
          <a:prstGeom prst="roundRect">
            <a:avLst>
              <a:gd name="adj" fmla="val 9174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7779394" y="4581525"/>
            <a:ext cx="3803005" cy="1038225"/>
          </a:xfrm>
          <a:prstGeom prst="roundRect">
            <a:avLst>
              <a:gd name="adj" fmla="val 9174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1538287"/>
            <a:ext cx="6826894" cy="466725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2563EB"/>
                </a:solidFill>
                <a:latin typeface="Plus Jakarta Sans"/>
              </a:rPr>
              <a:t>UNIFIED SURVEILLANCE PLATFORM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704850"/>
            <a:ext cx="11582400" cy="4095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550" b="1" i="0" u="none">
                <a:solidFill>
                  <a:srgbClr val="0F172A"/>
                </a:solidFill>
                <a:latin typeface="Plus Jakarta Sans"/>
              </a:rPr>
              <a:t>Interactive Power BI Dashboard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79419" y="2324100"/>
            <a:ext cx="4212580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Multi-Scale Geospatial Drilldown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79419" y="2600325"/>
            <a:ext cx="3498205" cy="361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64748B"/>
                </a:solidFill>
                <a:latin typeface="Inter"/>
              </a:rPr>
              <a:t>Direct latitude-longitude cluster mapping with cross-visual filtering.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79419" y="3552825"/>
            <a:ext cx="4212580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Temporal Diurnal Analysis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79419" y="3829050"/>
            <a:ext cx="3498205" cy="361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64748B"/>
                </a:solidFill>
                <a:latin typeface="Inter"/>
              </a:rPr>
              <a:t>Hourly incident distribution identifies specific shift surge windows.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79419" y="4781550"/>
            <a:ext cx="4212580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Dynamic Crime Triage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79419" y="5057775"/>
            <a:ext cx="3498205" cy="361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64748B"/>
                </a:solidFill>
                <a:latin typeface="Inter"/>
              </a:rPr>
              <a:t>Automated Top-N classification separates violent assaults from property loss.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ECBAFD7A-0ED2-FE52-C717-696CDF307F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1538287"/>
            <a:ext cx="7026919" cy="466725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2038350" y="2776537"/>
            <a:ext cx="9544050" cy="323850"/>
          </a:xfrm>
          <a:prstGeom prst="roundRect">
            <a:avLst>
              <a:gd name="adj" fmla="val 17647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2038350" y="3252787"/>
            <a:ext cx="9544050" cy="323850"/>
          </a:xfrm>
          <a:prstGeom prst="roundRect">
            <a:avLst>
              <a:gd name="adj" fmla="val 17647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2038350" y="3729037"/>
            <a:ext cx="9544050" cy="323850"/>
          </a:xfrm>
          <a:prstGeom prst="roundRect">
            <a:avLst>
              <a:gd name="adj" fmla="val 17647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2038350" y="4205287"/>
            <a:ext cx="9544050" cy="323850"/>
          </a:xfrm>
          <a:prstGeom prst="roundRect">
            <a:avLst>
              <a:gd name="adj" fmla="val 17647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2038350" y="4681537"/>
            <a:ext cx="9544050" cy="323850"/>
          </a:xfrm>
          <a:prstGeom prst="roundRect">
            <a:avLst>
              <a:gd name="adj" fmla="val 17647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2038350" y="2776537"/>
            <a:ext cx="8112323" cy="323850"/>
          </a:xfrm>
          <a:prstGeom prst="roundRect">
            <a:avLst>
              <a:gd name="adj" fmla="val 17647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2038350" y="3252787"/>
            <a:ext cx="7444233" cy="323850"/>
          </a:xfrm>
          <a:prstGeom prst="roundRect">
            <a:avLst>
              <a:gd name="adj" fmla="val 17647"/>
            </a:avLst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2038350" y="3729037"/>
            <a:ext cx="6871692" cy="323850"/>
          </a:xfrm>
          <a:prstGeom prst="roundRect">
            <a:avLst>
              <a:gd name="adj" fmla="val 17647"/>
            </a:avLst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2038350" y="4205287"/>
            <a:ext cx="6585346" cy="323850"/>
          </a:xfrm>
          <a:prstGeom prst="roundRect">
            <a:avLst>
              <a:gd name="adj" fmla="val 17647"/>
            </a:avLst>
          </a:prstGeom>
          <a:solidFill>
            <a:srgbClr val="93C5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2038350" y="4681537"/>
            <a:ext cx="6203602" cy="323850"/>
          </a:xfrm>
          <a:prstGeom prst="roundRect">
            <a:avLst>
              <a:gd name="adj" fmla="val 17647"/>
            </a:avLst>
          </a:prstGeom>
          <a:solidFill>
            <a:srgbClr val="BFDB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2563EB"/>
                </a:solidFill>
                <a:latin typeface="Plus Jakarta Sans"/>
              </a:rPr>
              <a:t>GEOGRAPHIC CONCENTRATION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9600" y="704850"/>
            <a:ext cx="11582400" cy="4095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550" b="1" i="0" u="none">
                <a:solidFill>
                  <a:srgbClr val="0F172A"/>
                </a:solidFill>
                <a:latin typeface="Plus Jakarta Sans"/>
              </a:rPr>
              <a:t>Top LAPD Police Divisions by Volume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0037" y="2843212"/>
            <a:ext cx="1547812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1275" b="1" i="0" u="none">
                <a:solidFill>
                  <a:srgbClr val="0F172A"/>
                </a:solidFill>
                <a:latin typeface="Inter"/>
              </a:rPr>
              <a:t>Central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0037" y="3319462"/>
            <a:ext cx="1547812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1275" b="1" i="0" u="none">
                <a:solidFill>
                  <a:srgbClr val="0F172A"/>
                </a:solidFill>
                <a:latin typeface="Inter"/>
              </a:rPr>
              <a:t>77th Street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0037" y="3795712"/>
            <a:ext cx="1547812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1275" b="1" i="0" u="none">
                <a:solidFill>
                  <a:srgbClr val="0F172A"/>
                </a:solidFill>
                <a:latin typeface="Inter"/>
              </a:rPr>
              <a:t>Pacific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0037" y="4271962"/>
            <a:ext cx="1547812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1275" b="1" i="0" u="none">
                <a:solidFill>
                  <a:srgbClr val="0F172A"/>
                </a:solidFill>
                <a:latin typeface="Inter"/>
              </a:rPr>
              <a:t>Southwest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0037" y="4748212"/>
            <a:ext cx="1547812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1275" b="1" i="0" u="none">
                <a:solidFill>
                  <a:srgbClr val="0F172A"/>
                </a:solidFill>
                <a:latin typeface="Inter"/>
              </a:rPr>
              <a:t>Hollywood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038350" y="2776537"/>
            <a:ext cx="8093273" cy="3238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25" b="1" i="0" u="none">
                <a:solidFill>
                  <a:srgbClr val="FFFFFF"/>
                </a:solidFill>
                <a:latin typeface="Inter"/>
              </a:rPr>
              <a:t>61,240 Incidents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038350" y="3252787"/>
            <a:ext cx="7425183" cy="3238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25" b="1" i="0" u="none">
                <a:solidFill>
                  <a:srgbClr val="FFFFFF"/>
                </a:solidFill>
                <a:latin typeface="Inter"/>
              </a:rPr>
              <a:t>56,410 Incidents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038350" y="3729037"/>
            <a:ext cx="6852642" cy="3238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25" b="1" i="0" u="none">
                <a:solidFill>
                  <a:srgbClr val="F8FAFC"/>
                </a:solidFill>
                <a:latin typeface="Inter"/>
              </a:rPr>
              <a:t>52,180 Incidents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38350" y="4205287"/>
            <a:ext cx="6566296" cy="3238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25" b="1" i="0" u="none">
                <a:solidFill>
                  <a:srgbClr val="1E3A8A"/>
                </a:solidFill>
                <a:latin typeface="Inter"/>
              </a:rPr>
              <a:t>50,320 Incidents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038350" y="4681537"/>
            <a:ext cx="6184552" cy="3238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25" b="1" i="0" u="none">
                <a:solidFill>
                  <a:srgbClr val="1E3A8A"/>
                </a:solidFill>
                <a:latin typeface="Inter"/>
              </a:rPr>
              <a:t>47,150 Incidents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2509837"/>
            <a:ext cx="3479750" cy="2838450"/>
          </a:xfrm>
          <a:prstGeom prst="roundRect">
            <a:avLst>
              <a:gd name="adj" fmla="val 4026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356050" y="2509837"/>
            <a:ext cx="3479750" cy="2838450"/>
          </a:xfrm>
          <a:prstGeom prst="roundRect">
            <a:avLst>
              <a:gd name="adj" fmla="val 4026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8102500" y="2509837"/>
            <a:ext cx="3479750" cy="2838450"/>
          </a:xfrm>
          <a:prstGeom prst="roundRect">
            <a:avLst>
              <a:gd name="adj" fmla="val 4026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2563EB"/>
                </a:solidFill>
                <a:latin typeface="Plus Jakarta Sans"/>
              </a:rPr>
              <a:t>TEMPORAL ANALYTICS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704850"/>
            <a:ext cx="11582400" cy="4095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550" b="1" i="0" u="none">
                <a:solidFill>
                  <a:srgbClr val="0F172A"/>
                </a:solidFill>
                <a:latin typeface="Plus Jakarta Sans"/>
              </a:rPr>
              <a:t>Diurnal Cycle &amp; Peak Surge Windows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5825" y="2824162"/>
            <a:ext cx="3659125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64748B"/>
                </a:solidFill>
                <a:latin typeface="Plus Jakarta Sans"/>
              </a:rPr>
              <a:t>CRITICAL SURGE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5825" y="3071812"/>
            <a:ext cx="3659125" cy="581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3600" b="1" i="0" u="none">
                <a:solidFill>
                  <a:srgbClr val="DC2626"/>
                </a:solidFill>
                <a:latin typeface="Plus Jakarta Sans"/>
              </a:rPr>
              <a:t>12:00 PM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5825" y="3767137"/>
            <a:ext cx="3842081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Inter"/>
              </a:rPr>
              <a:t>Midday Incident Spike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5825" y="4071937"/>
            <a:ext cx="3022550" cy="381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475569"/>
                </a:solidFill>
                <a:latin typeface="Inter"/>
              </a:rPr>
              <a:t>Sharp surge exceeding 60,000 recorded offenses during lunch rush.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32275" y="2824162"/>
            <a:ext cx="3659125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64748B"/>
                </a:solidFill>
                <a:latin typeface="Plus Jakarta Sans"/>
              </a:rPr>
              <a:t>SUSTAINED RISK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32275" y="3071812"/>
            <a:ext cx="3022550" cy="1162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600" b="1" i="0" u="none">
                <a:solidFill>
                  <a:srgbClr val="EA580C"/>
                </a:solidFill>
                <a:latin typeface="Plus Jakarta Sans"/>
              </a:rPr>
              <a:t>18:00 - 20:00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32275" y="4348162"/>
            <a:ext cx="3842081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Inter"/>
              </a:rPr>
              <a:t>Evening Commute Window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32275" y="4652962"/>
            <a:ext cx="3022550" cy="381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475569"/>
                </a:solidFill>
                <a:latin typeface="Inter"/>
              </a:rPr>
              <a:t>Secondary peak driven by residential burglaries and motor theft.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78725" y="2824162"/>
            <a:ext cx="3659125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64748B"/>
                </a:solidFill>
                <a:latin typeface="Plus Jakarta Sans"/>
              </a:rPr>
              <a:t>DOWNTIME WINDOW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78725" y="3071812"/>
            <a:ext cx="3659125" cy="581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3600" b="1" i="0" u="none">
                <a:solidFill>
                  <a:srgbClr val="16A34A"/>
                </a:solidFill>
                <a:latin typeface="Plus Jakarta Sans"/>
              </a:rPr>
              <a:t>05:00 AM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78725" y="3767137"/>
            <a:ext cx="3813274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Inter"/>
              </a:rPr>
              <a:t>Daily Incident Minimum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78725" y="4071937"/>
            <a:ext cx="3022550" cy="381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475569"/>
                </a:solidFill>
                <a:latin typeface="Inter"/>
              </a:rPr>
              <a:t>Lowest recorded activity under 15,000 cases; optimal maintenance window.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3195637"/>
            <a:ext cx="2571750" cy="1466850"/>
          </a:xfrm>
          <a:prstGeom prst="roundRect">
            <a:avLst>
              <a:gd name="adj" fmla="val 7792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3409950" y="3195637"/>
            <a:ext cx="2571750" cy="1466850"/>
          </a:xfrm>
          <a:prstGeom prst="roundRect">
            <a:avLst>
              <a:gd name="adj" fmla="val 7792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210300" y="3195637"/>
            <a:ext cx="2571750" cy="1466850"/>
          </a:xfrm>
          <a:prstGeom prst="roundRect">
            <a:avLst>
              <a:gd name="adj" fmla="val 7792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9010650" y="3195637"/>
            <a:ext cx="2571750" cy="1466850"/>
          </a:xfrm>
          <a:prstGeom prst="roundRect">
            <a:avLst>
              <a:gd name="adj" fmla="val 7792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2563EB"/>
                </a:solidFill>
                <a:latin typeface="Plus Jakarta Sans"/>
              </a:rPr>
              <a:t>OFFENSE TYPOLOGY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704850"/>
            <a:ext cx="11582400" cy="4095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550" b="1" i="0" u="none">
                <a:solidFill>
                  <a:srgbClr val="0F172A"/>
                </a:solidFill>
                <a:latin typeface="Plus Jakarta Sans"/>
              </a:rPr>
              <a:t>Dominant Crime Classifications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7725" y="3471862"/>
            <a:ext cx="2619375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2563EB"/>
                </a:solidFill>
                <a:latin typeface="Inter"/>
              </a:rPr>
              <a:t>21.96% SHARE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7725" y="3690937"/>
            <a:ext cx="2750343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Plus Jakarta Sans"/>
              </a:rPr>
              <a:t>Vehicle Theft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7725" y="4005262"/>
            <a:ext cx="2190750" cy="381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475569"/>
                </a:solidFill>
                <a:latin typeface="Inter"/>
              </a:rPr>
              <a:t>97K incidents dominate property crime.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48075" y="3471862"/>
            <a:ext cx="2619375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DC2626"/>
                </a:solidFill>
                <a:latin typeface="Inter"/>
              </a:rPr>
              <a:t>16.00% SHARE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48075" y="3690937"/>
            <a:ext cx="2750343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Plus Jakarta Sans"/>
              </a:rPr>
              <a:t>Battery &amp; Assault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48075" y="4005262"/>
            <a:ext cx="2190750" cy="381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475569"/>
                </a:solidFill>
                <a:latin typeface="Inter"/>
              </a:rPr>
              <a:t>71K interpersonal violence reports.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48425" y="3471862"/>
            <a:ext cx="2619375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EA580C"/>
                </a:solidFill>
                <a:latin typeface="Inter"/>
              </a:rPr>
              <a:t>12.65% SHARE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48425" y="3690937"/>
            <a:ext cx="2750343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Plus Jakarta Sans"/>
              </a:rPr>
              <a:t>Identity Theft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8425" y="4005262"/>
            <a:ext cx="2190750" cy="381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475569"/>
                </a:solidFill>
                <a:latin typeface="Inter"/>
              </a:rPr>
              <a:t>56K white-collar digital offenses.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48775" y="3471862"/>
            <a:ext cx="2619375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475569"/>
                </a:solidFill>
                <a:latin typeface="Inter"/>
              </a:rPr>
              <a:t>12.40% SHARE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48775" y="3690937"/>
            <a:ext cx="2750343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Plus Jakarta Sans"/>
              </a:rPr>
              <a:t>Burglary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48775" y="4005262"/>
            <a:ext cx="2190750" cy="381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475569"/>
                </a:solidFill>
                <a:latin typeface="Inter"/>
              </a:rPr>
              <a:t>55K residential break-ins recorded.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2723257"/>
            <a:ext cx="5314950" cy="2411610"/>
          </a:xfrm>
          <a:prstGeom prst="roundRect">
            <a:avLst>
              <a:gd name="adj" fmla="val 4739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267450" y="2723257"/>
            <a:ext cx="5314950" cy="2411610"/>
          </a:xfrm>
          <a:prstGeom prst="roundRect">
            <a:avLst>
              <a:gd name="adj" fmla="val 4739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3925" y="3075682"/>
            <a:ext cx="342900" cy="3429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1775" y="3075682"/>
            <a:ext cx="342900" cy="3429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9175" y="3170932"/>
            <a:ext cx="152400" cy="1524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57975" y="3170932"/>
            <a:ext cx="190500" cy="1524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2563EB"/>
                </a:solidFill>
                <a:latin typeface="Plus Jakarta Sans"/>
              </a:rPr>
              <a:t>BEHAVIORAL COMPARISON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704850"/>
            <a:ext cx="11582400" cy="4095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550" b="1" i="0" u="none">
                <a:solidFill>
                  <a:srgbClr val="0F172A"/>
                </a:solidFill>
                <a:latin typeface="Plus Jakarta Sans"/>
              </a:rPr>
              <a:t>Weekday vs. Weekend Risk Dynamics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3925" y="3570982"/>
            <a:ext cx="4781550" cy="5485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475569"/>
                </a:solidFill>
                <a:latin typeface="Inter"/>
              </a:rPr>
              <a:t>Commercial vehicle theft concentrated near transit hubs and business centers.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925" y="4233862"/>
            <a:ext cx="4781550" cy="5485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475569"/>
                </a:solidFill>
                <a:latin typeface="Inter"/>
              </a:rPr>
              <a:t>Identity fraud reports surge during working business hours.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1775" y="3570982"/>
            <a:ext cx="4781550" cy="5485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475569"/>
                </a:solidFill>
                <a:latin typeface="Inter"/>
              </a:rPr>
              <a:t>Violent battery incidents increase in nightlife and entertainment corridors.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1775" y="4233862"/>
            <a:ext cx="4781550" cy="5485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475569"/>
                </a:solidFill>
                <a:latin typeface="Inter"/>
              </a:rPr>
              <a:t>Late-night emergency calls require dedicated tactical response units.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81125" y="3113782"/>
            <a:ext cx="3712964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0F172A"/>
                </a:solidFill>
                <a:latin typeface="Plus Jakarta Sans"/>
              </a:rPr>
              <a:t>Weekday Pattern (Mon - Fri)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38975" y="3113782"/>
            <a:ext cx="3550443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0F172A"/>
                </a:solidFill>
                <a:latin typeface="Plus Jakarta Sans"/>
              </a:rPr>
              <a:t>Weekend Surge (Sat - Sun)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3214687"/>
            <a:ext cx="2600325" cy="142875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3400425" y="3305175"/>
            <a:ext cx="2600325" cy="1247775"/>
          </a:xfrm>
          <a:prstGeom prst="roundRect">
            <a:avLst>
              <a:gd name="adj" fmla="val 916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191250" y="3214687"/>
            <a:ext cx="2600325" cy="142875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8982075" y="3214687"/>
            <a:ext cx="2600325" cy="142875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2563EB"/>
                </a:solidFill>
                <a:latin typeface="Plus Jakarta Sans"/>
              </a:rPr>
              <a:t>ENGINEERING ARCHITECTURE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704850"/>
            <a:ext cx="11582400" cy="4095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550" b="1" i="0" u="none">
                <a:solidFill>
                  <a:srgbClr val="0F172A"/>
                </a:solidFill>
                <a:latin typeface="Plus Jakarta Sans"/>
              </a:rPr>
              <a:t>End-to-End Analytics Pipeline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4590" y="3490912"/>
            <a:ext cx="2750343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050" b="1" i="0" u="none">
                <a:solidFill>
                  <a:srgbClr val="2563EB"/>
                </a:solidFill>
                <a:latin typeface="Inter"/>
              </a:rPr>
              <a:t>STEP 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5832" y="3709987"/>
            <a:ext cx="2887860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350" b="1" i="0" u="none">
                <a:solidFill>
                  <a:srgbClr val="0F172A"/>
                </a:solidFill>
                <a:latin typeface="Plus Jakarta Sans"/>
              </a:rPr>
              <a:t>Data Extraction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4590" y="4005262"/>
            <a:ext cx="2750343" cy="361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25" b="0" i="0" u="none">
                <a:solidFill>
                  <a:srgbClr val="64748B"/>
                </a:solidFill>
                <a:latin typeface="Inter"/>
              </a:rPr>
              <a:t>899K records ingested via Python.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25415" y="3581400"/>
            <a:ext cx="2750343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050" b="1" i="0" u="none">
                <a:solidFill>
                  <a:srgbClr val="2563EB"/>
                </a:solidFill>
                <a:latin typeface="Inter"/>
              </a:rPr>
              <a:t>STEP 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56657" y="3800475"/>
            <a:ext cx="2887860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350" b="1" i="0" u="none">
                <a:solidFill>
                  <a:srgbClr val="0F172A"/>
                </a:solidFill>
                <a:latin typeface="Plus Jakarta Sans"/>
              </a:rPr>
              <a:t>Spatial Cleaning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25415" y="4095750"/>
            <a:ext cx="2750343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125" b="0" i="0" u="none">
                <a:solidFill>
                  <a:srgbClr val="64748B"/>
                </a:solidFill>
                <a:latin typeface="Inter"/>
              </a:rPr>
              <a:t>Invalid coordinates filtered out.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16240" y="3490912"/>
            <a:ext cx="2750343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050" b="1" i="0" u="none">
                <a:solidFill>
                  <a:srgbClr val="2563EB"/>
                </a:solidFill>
                <a:latin typeface="Inter"/>
              </a:rPr>
              <a:t>STEP 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47482" y="3709987"/>
            <a:ext cx="2887860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350" b="1" i="0" u="none">
                <a:solidFill>
                  <a:srgbClr val="0F172A"/>
                </a:solidFill>
                <a:latin typeface="Plus Jakarta Sans"/>
              </a:rPr>
              <a:t>DAX Modeling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16240" y="4005262"/>
            <a:ext cx="2750343" cy="361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25" b="0" i="0" u="none">
                <a:solidFill>
                  <a:srgbClr val="64748B"/>
                </a:solidFill>
                <a:latin typeface="Inter"/>
              </a:rPr>
              <a:t>Dynamic measures for violent ratios.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07065" y="3490912"/>
            <a:ext cx="2750343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050" b="1" i="0" u="none">
                <a:solidFill>
                  <a:srgbClr val="2563EB"/>
                </a:solidFill>
                <a:latin typeface="Inter"/>
              </a:rPr>
              <a:t>STEP 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38307" y="3709987"/>
            <a:ext cx="2887860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350" b="1" i="0" u="none">
                <a:solidFill>
                  <a:srgbClr val="0F172A"/>
                </a:solidFill>
                <a:latin typeface="Plus Jakarta Sans"/>
              </a:rPr>
              <a:t>BI Deployment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07065" y="4005262"/>
            <a:ext cx="2750343" cy="361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25" b="0" i="0" u="none">
                <a:solidFill>
                  <a:srgbClr val="64748B"/>
                </a:solidFill>
                <a:latin typeface="Inter"/>
              </a:rPr>
              <a:t>Executive interactive dashboard.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3090862"/>
            <a:ext cx="3505200" cy="1676400"/>
          </a:xfrm>
          <a:prstGeom prst="roundRect">
            <a:avLst>
              <a:gd name="adj" fmla="val 6818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343400" y="3090862"/>
            <a:ext cx="3505200" cy="1676400"/>
          </a:xfrm>
          <a:prstGeom prst="roundRect">
            <a:avLst>
              <a:gd name="adj" fmla="val 6818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8077200" y="3090862"/>
            <a:ext cx="3505200" cy="1676400"/>
          </a:xfrm>
          <a:prstGeom prst="roundRect">
            <a:avLst>
              <a:gd name="adj" fmla="val 6818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5825" y="3405187"/>
            <a:ext cx="381000" cy="3810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9625" y="3405187"/>
            <a:ext cx="381000" cy="3810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53425" y="3405187"/>
            <a:ext cx="381000" cy="3810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6787" y="3509962"/>
            <a:ext cx="219075" cy="17145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24400" y="3509962"/>
            <a:ext cx="171450" cy="17145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48675" y="3509962"/>
            <a:ext cx="190500" cy="17145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2563EB"/>
                </a:solidFill>
                <a:latin typeface="Plus Jakarta Sans"/>
              </a:rPr>
              <a:t>STRATEGIC IMPLEMENTATION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600" y="704850"/>
            <a:ext cx="11582400" cy="4095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550" b="1" i="0" u="none">
                <a:solidFill>
                  <a:srgbClr val="0F172A"/>
                </a:solidFill>
                <a:latin typeface="Plus Jakarta Sans"/>
              </a:rPr>
              <a:t>Tactical Deployment Recommendations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5825" y="3938587"/>
            <a:ext cx="3875484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Plus Jakarta Sans"/>
              </a:rPr>
              <a:t>Dynamic Shift Scheduling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5825" y="4252912"/>
            <a:ext cx="3690937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Inter"/>
              </a:rPr>
              <a:t>Concentrate patrol units at noon.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19625" y="3938587"/>
            <a:ext cx="3875484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Plus Jakarta Sans"/>
              </a:rPr>
              <a:t>Precinct Rebalancing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19625" y="4252912"/>
            <a:ext cx="3690937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Inter"/>
              </a:rPr>
              <a:t>Prioritize Central and 77th divisions.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53425" y="3938587"/>
            <a:ext cx="3838575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Plus Jakarta Sans"/>
              </a:rPr>
              <a:t>Targeted Infrastructure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53425" y="4252912"/>
            <a:ext cx="3690937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Inter"/>
              </a:rPr>
              <a:t>Deploy smart cameras in Pacific.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2957512"/>
            <a:ext cx="3454449" cy="1981200"/>
          </a:xfrm>
          <a:prstGeom prst="roundRect">
            <a:avLst>
              <a:gd name="adj" fmla="val 5769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368849" y="2957512"/>
            <a:ext cx="3454449" cy="1981200"/>
          </a:xfrm>
          <a:prstGeom prst="roundRect">
            <a:avLst>
              <a:gd name="adj" fmla="val 5769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8128099" y="2957512"/>
            <a:ext cx="3454449" cy="1981200"/>
          </a:xfrm>
          <a:prstGeom prst="roundRect">
            <a:avLst>
              <a:gd name="adj" fmla="val 5769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2563EB"/>
                </a:solidFill>
                <a:latin typeface="Plus Jakarta Sans"/>
              </a:rPr>
              <a:t>ROI &amp; EFFICIENCY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704850"/>
            <a:ext cx="11582400" cy="4095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550" b="1" i="0" u="none">
                <a:solidFill>
                  <a:srgbClr val="0F172A"/>
                </a:solidFill>
                <a:latin typeface="Plus Jakarta Sans"/>
              </a:rPr>
              <a:t>Projected Operational Impact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0700" y="3309937"/>
            <a:ext cx="3532249" cy="647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ts val="5100"/>
              </a:lnSpc>
            </a:pPr>
            <a:r>
              <a:rPr sz="5100" b="1" i="0" u="none">
                <a:solidFill>
                  <a:srgbClr val="16A34A"/>
                </a:solidFill>
                <a:latin typeface="Plus Jakarta Sans"/>
              </a:rPr>
              <a:t>-24%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0700" y="4110037"/>
            <a:ext cx="3532249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500" b="1" i="0" u="none">
                <a:solidFill>
                  <a:srgbClr val="0F172A"/>
                </a:solidFill>
                <a:latin typeface="Inter"/>
              </a:rPr>
              <a:t>Response Time Reduction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0700" y="4395787"/>
            <a:ext cx="3532249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200" b="0" i="0" u="none">
                <a:solidFill>
                  <a:srgbClr val="64748B"/>
                </a:solidFill>
                <a:latin typeface="Inter"/>
              </a:rPr>
              <a:t>Targeted emergency dispatch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29949" y="3309937"/>
            <a:ext cx="3532249" cy="647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ts val="5100"/>
              </a:lnSpc>
            </a:pPr>
            <a:r>
              <a:rPr sz="5100" b="1" i="0" u="none">
                <a:solidFill>
                  <a:srgbClr val="2563EB"/>
                </a:solidFill>
                <a:latin typeface="Plus Jakarta Sans"/>
              </a:rPr>
              <a:t>+35%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29949" y="4110037"/>
            <a:ext cx="3532249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500" b="1" i="0" u="none">
                <a:solidFill>
                  <a:srgbClr val="0F172A"/>
                </a:solidFill>
                <a:latin typeface="Inter"/>
              </a:rPr>
              <a:t>Patrol Efficiency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29949" y="4395787"/>
            <a:ext cx="3532249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200" b="0" i="0" u="none">
                <a:solidFill>
                  <a:srgbClr val="64748B"/>
                </a:solidFill>
                <a:latin typeface="Inter"/>
              </a:rPr>
              <a:t>Optimized high-density coverage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89199" y="3309937"/>
            <a:ext cx="3532249" cy="647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ts val="5100"/>
              </a:lnSpc>
            </a:pPr>
            <a:r>
              <a:rPr sz="5100" b="1" i="0" u="none">
                <a:solidFill>
                  <a:srgbClr val="0F172A"/>
                </a:solidFill>
                <a:latin typeface="Plus Jakarta Sans"/>
              </a:rPr>
              <a:t>$4.2M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89199" y="4110037"/>
            <a:ext cx="3532249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500" b="1" i="0" u="none">
                <a:solidFill>
                  <a:srgbClr val="0F172A"/>
                </a:solidFill>
                <a:latin typeface="Inter"/>
              </a:rPr>
              <a:t>Annual Overtime Savings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89199" y="4395787"/>
            <a:ext cx="3532249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200" b="0" i="0" u="none">
                <a:solidFill>
                  <a:srgbClr val="64748B"/>
                </a:solidFill>
                <a:latin typeface="Inter"/>
              </a:rPr>
              <a:t>Eliminating unscheduled shift overruns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867400" y="2018407"/>
            <a:ext cx="457200" cy="28575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024312" y="4401442"/>
            <a:ext cx="4143375" cy="438150"/>
          </a:xfrm>
          <a:prstGeom prst="roundRect">
            <a:avLst>
              <a:gd name="adj" fmla="val 17391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00537" y="4534792"/>
            <a:ext cx="219075" cy="17145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95375" y="2275582"/>
            <a:ext cx="10001250" cy="109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4320"/>
              </a:lnSpc>
            </a:pPr>
            <a:r>
              <a:rPr sz="3600" b="1" i="0" u="none">
                <a:solidFill>
                  <a:srgbClr val="FFFFFF"/>
                </a:solidFill>
                <a:latin typeface="Plus Jakarta Sans"/>
              </a:rPr>
              <a:t>Data-Driven Intelligence for Safer Cities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405062" y="3525142"/>
            <a:ext cx="7381875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250"/>
              </a:lnSpc>
            </a:pPr>
            <a:r>
              <a:rPr sz="1500" b="0" i="0" u="none">
                <a:solidFill>
                  <a:srgbClr val="94A3B8"/>
                </a:solidFill>
                <a:latin typeface="Inter"/>
              </a:rPr>
              <a:t>Empowering public safety leaders with actionable geospatial and temporal analytics.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26718" y="4525267"/>
            <a:ext cx="4071937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275" b="1" i="0" u="none">
                <a:solidFill>
                  <a:srgbClr val="F8FAFC"/>
                </a:solidFill>
                <a:latin typeface="Inter"/>
              </a:rPr>
              <a:t>Open for Questions &amp; Strategic Discussion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456</Words>
  <Application>Microsoft Office PowerPoint</Application>
  <PresentationFormat>Widescreen</PresentationFormat>
  <Paragraphs>115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Inter</vt:lpstr>
      <vt:lpstr>Arial</vt:lpstr>
      <vt:lpstr>Plus Jakarta Sans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Prem Ranpise</cp:lastModifiedBy>
  <cp:revision>2</cp:revision>
  <dcterms:created xsi:type="dcterms:W3CDTF">2013-01-27T09:14:16Z</dcterms:created>
  <dcterms:modified xsi:type="dcterms:W3CDTF">2026-09-26T21:07:05Z</dcterms:modified>
  <cp:category/>
</cp:coreProperties>
</file>